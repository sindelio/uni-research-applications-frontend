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32397700" cy="43192700"/>
  <p:notesSz cx="6858000" cy="9144000"/>
  <p:embeddedFontLst>
    <p:embeddedFont>
      <p:font typeface="Calibri (MS)" panose="020B0604020202020204" charset="0"/>
      <p:regular r:id="rId4"/>
    </p:embeddedFont>
    <p:embeddedFont>
      <p:font typeface="Calibri (MS) Bold" panose="020B0604020202020204" charset="0"/>
      <p:regular r:id="rId5"/>
      <p:bold r:id="rId6"/>
    </p:embeddedFont>
    <p:embeddedFont>
      <p:font typeface="Open Sans 1 Bold" panose="020B0604020202020204" charset="0"/>
      <p:regular r:id="rId7"/>
      <p:bold r:id="rId8"/>
    </p:embeddedFont>
    <p:embeddedFont>
      <p:font typeface="Open Sans 2" panose="020B0604020202020204" charset="0"/>
      <p:regular r:id="rId9"/>
    </p:embeddedFont>
    <p:embeddedFont>
      <p:font typeface="Open Sans 2 Bold" panose="020B0604020202020204"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589" autoAdjust="0"/>
  </p:normalViewPr>
  <p:slideViewPr>
    <p:cSldViewPr>
      <p:cViewPr varScale="1">
        <p:scale>
          <a:sx n="10" d="100"/>
          <a:sy n="10" d="100"/>
        </p:scale>
        <p:origin x="2188" y="-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Group 5"/>
          <p:cNvGrpSpPr/>
          <p:nvPr/>
        </p:nvGrpSpPr>
        <p:grpSpPr>
          <a:xfrm>
            <a:off x="16787840" y="24974782"/>
            <a:ext cx="14659882" cy="1668780"/>
            <a:chOff x="0" y="0"/>
            <a:chExt cx="1225880" cy="139573"/>
          </a:xfrm>
        </p:grpSpPr>
        <p:sp>
          <p:nvSpPr>
            <p:cNvPr id="6" name="Freeform 6"/>
            <p:cNvSpPr/>
            <p:nvPr/>
          </p:nvSpPr>
          <p:spPr>
            <a:xfrm>
              <a:off x="0" y="0"/>
              <a:ext cx="1225880" cy="139573"/>
            </a:xfrm>
            <a:custGeom>
              <a:avLst/>
              <a:gdLst/>
              <a:ahLst/>
              <a:cxnLst/>
              <a:rect l="l" t="t" r="r" b="b"/>
              <a:pathLst>
                <a:path w="1225880" h="139573">
                  <a:moveTo>
                    <a:pt x="1225880" y="7922"/>
                  </a:moveTo>
                  <a:lnTo>
                    <a:pt x="1225880" y="131651"/>
                  </a:lnTo>
                  <a:cubicBezTo>
                    <a:pt x="1225880" y="136026"/>
                    <a:pt x="1222333" y="139573"/>
                    <a:pt x="1217958" y="139573"/>
                  </a:cubicBezTo>
                  <a:lnTo>
                    <a:pt x="7922" y="139573"/>
                  </a:lnTo>
                  <a:cubicBezTo>
                    <a:pt x="5821" y="139573"/>
                    <a:pt x="3806" y="138738"/>
                    <a:pt x="2320" y="137253"/>
                  </a:cubicBezTo>
                  <a:cubicBezTo>
                    <a:pt x="835" y="135767"/>
                    <a:pt x="0" y="133752"/>
                    <a:pt x="0" y="131651"/>
                  </a:cubicBezTo>
                  <a:lnTo>
                    <a:pt x="0" y="7922"/>
                  </a:lnTo>
                  <a:cubicBezTo>
                    <a:pt x="0" y="5821"/>
                    <a:pt x="835" y="3806"/>
                    <a:pt x="2320" y="2320"/>
                  </a:cubicBezTo>
                  <a:cubicBezTo>
                    <a:pt x="3806" y="835"/>
                    <a:pt x="5821" y="0"/>
                    <a:pt x="7922" y="0"/>
                  </a:cubicBezTo>
                  <a:lnTo>
                    <a:pt x="1217958" y="0"/>
                  </a:lnTo>
                  <a:cubicBezTo>
                    <a:pt x="1220059" y="0"/>
                    <a:pt x="1222074" y="835"/>
                    <a:pt x="1223560" y="2320"/>
                  </a:cubicBezTo>
                  <a:cubicBezTo>
                    <a:pt x="1225045" y="3806"/>
                    <a:pt x="1225880" y="5821"/>
                    <a:pt x="1225880" y="7922"/>
                  </a:cubicBezTo>
                  <a:close/>
                </a:path>
              </a:pathLst>
            </a:custGeom>
            <a:solidFill>
              <a:srgbClr val="EB4EB5"/>
            </a:solidFill>
          </p:spPr>
          <p:txBody>
            <a:bodyPr/>
            <a:lstStyle/>
            <a:p>
              <a:endParaRPr lang="pt-BR"/>
            </a:p>
          </p:txBody>
        </p:sp>
        <p:sp>
          <p:nvSpPr>
            <p:cNvPr id="7" name="TextBox 7"/>
            <p:cNvSpPr txBox="1"/>
            <p:nvPr/>
          </p:nvSpPr>
          <p:spPr>
            <a:xfrm>
              <a:off x="0" y="-133350"/>
              <a:ext cx="1225880" cy="272923"/>
            </a:xfrm>
            <a:prstGeom prst="rect">
              <a:avLst/>
            </a:prstGeom>
          </p:spPr>
          <p:txBody>
            <a:bodyPr lIns="50800" tIns="50800" rIns="50800" bIns="50800" rtlCol="0" anchor="ctr"/>
            <a:lstStyle/>
            <a:p>
              <a:pPr algn="ctr">
                <a:lnSpc>
                  <a:spcPts val="10188"/>
                </a:lnSpc>
              </a:pPr>
              <a:endParaRPr/>
            </a:p>
          </p:txBody>
        </p:sp>
      </p:grpSp>
      <p:grpSp>
        <p:nvGrpSpPr>
          <p:cNvPr id="8" name="Group 8"/>
          <p:cNvGrpSpPr/>
          <p:nvPr/>
        </p:nvGrpSpPr>
        <p:grpSpPr>
          <a:xfrm>
            <a:off x="16778942" y="10752090"/>
            <a:ext cx="14989863" cy="28846763"/>
            <a:chOff x="0" y="0"/>
            <a:chExt cx="1465773" cy="2820760"/>
          </a:xfrm>
        </p:grpSpPr>
        <p:sp>
          <p:nvSpPr>
            <p:cNvPr id="9" name="Freeform 9"/>
            <p:cNvSpPr/>
            <p:nvPr/>
          </p:nvSpPr>
          <p:spPr>
            <a:xfrm>
              <a:off x="0" y="0"/>
              <a:ext cx="1465773" cy="2820760"/>
            </a:xfrm>
            <a:custGeom>
              <a:avLst/>
              <a:gdLst/>
              <a:ahLst/>
              <a:cxnLst/>
              <a:rect l="l" t="t" r="r" b="b"/>
              <a:pathLst>
                <a:path w="1465773" h="2820760">
                  <a:moveTo>
                    <a:pt x="21176" y="0"/>
                  </a:moveTo>
                  <a:lnTo>
                    <a:pt x="1444597" y="0"/>
                  </a:lnTo>
                  <a:cubicBezTo>
                    <a:pt x="1450213" y="0"/>
                    <a:pt x="1455600" y="2231"/>
                    <a:pt x="1459571" y="6202"/>
                  </a:cubicBezTo>
                  <a:cubicBezTo>
                    <a:pt x="1463542" y="10173"/>
                    <a:pt x="1465773" y="15559"/>
                    <a:pt x="1465773" y="21176"/>
                  </a:cubicBezTo>
                  <a:lnTo>
                    <a:pt x="1465773" y="2799584"/>
                  </a:lnTo>
                  <a:cubicBezTo>
                    <a:pt x="1465773" y="2811279"/>
                    <a:pt x="1456292" y="2820760"/>
                    <a:pt x="1444597" y="2820760"/>
                  </a:cubicBezTo>
                  <a:lnTo>
                    <a:pt x="21176" y="2820760"/>
                  </a:lnTo>
                  <a:cubicBezTo>
                    <a:pt x="15559" y="2820760"/>
                    <a:pt x="10173" y="2818529"/>
                    <a:pt x="6202" y="2814557"/>
                  </a:cubicBezTo>
                  <a:cubicBezTo>
                    <a:pt x="2231" y="2810586"/>
                    <a:pt x="0" y="2805200"/>
                    <a:pt x="0" y="2799584"/>
                  </a:cubicBezTo>
                  <a:lnTo>
                    <a:pt x="0" y="21176"/>
                  </a:lnTo>
                  <a:cubicBezTo>
                    <a:pt x="0" y="15559"/>
                    <a:pt x="2231" y="10173"/>
                    <a:pt x="6202" y="6202"/>
                  </a:cubicBezTo>
                  <a:cubicBezTo>
                    <a:pt x="10173" y="2231"/>
                    <a:pt x="15559" y="0"/>
                    <a:pt x="21176" y="0"/>
                  </a:cubicBezTo>
                  <a:close/>
                </a:path>
              </a:pathLst>
            </a:custGeom>
            <a:solidFill>
              <a:srgbClr val="FFFFFF"/>
            </a:solidFill>
            <a:ln cap="rnd">
              <a:noFill/>
              <a:prstDash val="solid"/>
              <a:round/>
            </a:ln>
          </p:spPr>
          <p:txBody>
            <a:bodyPr/>
            <a:lstStyle/>
            <a:p>
              <a:endParaRPr lang="pt-BR"/>
            </a:p>
          </p:txBody>
        </p:sp>
        <p:sp>
          <p:nvSpPr>
            <p:cNvPr id="10" name="TextBox 10"/>
            <p:cNvSpPr txBox="1"/>
            <p:nvPr/>
          </p:nvSpPr>
          <p:spPr>
            <a:xfrm>
              <a:off x="0" y="28575"/>
              <a:ext cx="1465773" cy="2792185"/>
            </a:xfrm>
            <a:prstGeom prst="rect">
              <a:avLst/>
            </a:prstGeom>
          </p:spPr>
          <p:txBody>
            <a:bodyPr lIns="37705" tIns="37705" rIns="37705" bIns="37705" rtlCol="0" anchor="ctr"/>
            <a:lstStyle/>
            <a:p>
              <a:pPr marL="0" lvl="0" indent="0" algn="ctr">
                <a:lnSpc>
                  <a:spcPts val="988"/>
                </a:lnSpc>
                <a:spcBef>
                  <a:spcPct val="0"/>
                </a:spcBef>
              </a:pPr>
              <a:endParaRPr/>
            </a:p>
          </p:txBody>
        </p:sp>
      </p:grpSp>
      <p:grpSp>
        <p:nvGrpSpPr>
          <p:cNvPr id="11" name="Group 11"/>
          <p:cNvGrpSpPr/>
          <p:nvPr/>
        </p:nvGrpSpPr>
        <p:grpSpPr>
          <a:xfrm>
            <a:off x="1001640" y="11274170"/>
            <a:ext cx="14659882" cy="1668780"/>
            <a:chOff x="0" y="0"/>
            <a:chExt cx="1225880" cy="139573"/>
          </a:xfrm>
        </p:grpSpPr>
        <p:sp>
          <p:nvSpPr>
            <p:cNvPr id="12" name="Freeform 12"/>
            <p:cNvSpPr/>
            <p:nvPr/>
          </p:nvSpPr>
          <p:spPr>
            <a:xfrm>
              <a:off x="0" y="0"/>
              <a:ext cx="1225880" cy="139573"/>
            </a:xfrm>
            <a:custGeom>
              <a:avLst/>
              <a:gdLst/>
              <a:ahLst/>
              <a:cxnLst/>
              <a:rect l="l" t="t" r="r" b="b"/>
              <a:pathLst>
                <a:path w="1225880" h="139573">
                  <a:moveTo>
                    <a:pt x="1225880" y="7922"/>
                  </a:moveTo>
                  <a:lnTo>
                    <a:pt x="1225880" y="131651"/>
                  </a:lnTo>
                  <a:cubicBezTo>
                    <a:pt x="1225880" y="136026"/>
                    <a:pt x="1222333" y="139573"/>
                    <a:pt x="1217958" y="139573"/>
                  </a:cubicBezTo>
                  <a:lnTo>
                    <a:pt x="7922" y="139573"/>
                  </a:lnTo>
                  <a:cubicBezTo>
                    <a:pt x="5821" y="139573"/>
                    <a:pt x="3806" y="138738"/>
                    <a:pt x="2320" y="137253"/>
                  </a:cubicBezTo>
                  <a:cubicBezTo>
                    <a:pt x="835" y="135767"/>
                    <a:pt x="0" y="133752"/>
                    <a:pt x="0" y="131651"/>
                  </a:cubicBezTo>
                  <a:lnTo>
                    <a:pt x="0" y="7922"/>
                  </a:lnTo>
                  <a:cubicBezTo>
                    <a:pt x="0" y="5821"/>
                    <a:pt x="835" y="3806"/>
                    <a:pt x="2320" y="2320"/>
                  </a:cubicBezTo>
                  <a:cubicBezTo>
                    <a:pt x="3806" y="835"/>
                    <a:pt x="5821" y="0"/>
                    <a:pt x="7922" y="0"/>
                  </a:cubicBezTo>
                  <a:lnTo>
                    <a:pt x="1217958" y="0"/>
                  </a:lnTo>
                  <a:cubicBezTo>
                    <a:pt x="1220059" y="0"/>
                    <a:pt x="1222074" y="835"/>
                    <a:pt x="1223560" y="2320"/>
                  </a:cubicBezTo>
                  <a:cubicBezTo>
                    <a:pt x="1225045" y="3806"/>
                    <a:pt x="1225880" y="5821"/>
                    <a:pt x="1225880" y="7922"/>
                  </a:cubicBezTo>
                  <a:close/>
                </a:path>
              </a:pathLst>
            </a:custGeom>
            <a:solidFill>
              <a:srgbClr val="2325C9"/>
            </a:solidFill>
          </p:spPr>
          <p:txBody>
            <a:bodyPr/>
            <a:lstStyle/>
            <a:p>
              <a:endParaRPr lang="pt-BR"/>
            </a:p>
          </p:txBody>
        </p:sp>
        <p:sp>
          <p:nvSpPr>
            <p:cNvPr id="13" name="TextBox 13"/>
            <p:cNvSpPr txBox="1"/>
            <p:nvPr/>
          </p:nvSpPr>
          <p:spPr>
            <a:xfrm>
              <a:off x="0" y="-133350"/>
              <a:ext cx="1225880" cy="272923"/>
            </a:xfrm>
            <a:prstGeom prst="rect">
              <a:avLst/>
            </a:prstGeom>
          </p:spPr>
          <p:txBody>
            <a:bodyPr lIns="50800" tIns="50800" rIns="50800" bIns="50800" rtlCol="0" anchor="ctr"/>
            <a:lstStyle/>
            <a:p>
              <a:pPr algn="ctr">
                <a:lnSpc>
                  <a:spcPts val="10188"/>
                </a:lnSpc>
              </a:pPr>
              <a:endParaRPr/>
            </a:p>
          </p:txBody>
        </p:sp>
      </p:grpSp>
      <p:sp>
        <p:nvSpPr>
          <p:cNvPr id="14" name="TextBox 14"/>
          <p:cNvSpPr txBox="1"/>
          <p:nvPr/>
        </p:nvSpPr>
        <p:spPr>
          <a:xfrm>
            <a:off x="3695230" y="6575964"/>
            <a:ext cx="25546602" cy="1357679"/>
          </a:xfrm>
          <a:prstGeom prst="rect">
            <a:avLst/>
          </a:prstGeom>
        </p:spPr>
        <p:txBody>
          <a:bodyPr lIns="0" tIns="0" rIns="0" bIns="0" rtlCol="0" anchor="t">
            <a:spAutoFit/>
          </a:bodyPr>
          <a:lstStyle/>
          <a:p>
            <a:pPr algn="ctr">
              <a:lnSpc>
                <a:spcPts val="11319"/>
              </a:lnSpc>
            </a:pPr>
            <a:r>
              <a:rPr lang="en-US" sz="8000" b="1" dirty="0">
                <a:solidFill>
                  <a:srgbClr val="000000"/>
                </a:solidFill>
                <a:latin typeface="Calibri" panose="020F0502020204030204" pitchFamily="34" charset="0"/>
                <a:ea typeface="Calibri (MS) Bold"/>
                <a:cs typeface="Calibri" panose="020F0502020204030204" pitchFamily="34" charset="0"/>
                <a:sym typeface="Calibri (MS) Bold"/>
              </a:rPr>
              <a:t>TÍTULO DO PROJETO</a:t>
            </a:r>
            <a:r>
              <a:rPr lang="en-US" sz="8000" dirty="0">
                <a:solidFill>
                  <a:srgbClr val="000000"/>
                </a:solidFill>
                <a:latin typeface="Calibri" panose="020F0502020204030204" pitchFamily="34" charset="0"/>
                <a:ea typeface="Calibri (MS)"/>
                <a:cs typeface="Calibri" panose="020F0502020204030204" pitchFamily="34" charset="0"/>
                <a:sym typeface="Calibri (MS)"/>
              </a:rPr>
              <a:t> (</a:t>
            </a:r>
            <a:r>
              <a:rPr lang="en-US" sz="8000" dirty="0" err="1">
                <a:latin typeface="Calibri" panose="020F0502020204030204" pitchFamily="34" charset="0"/>
                <a:cs typeface="Calibri" panose="020F0502020204030204" pitchFamily="34" charset="0"/>
                <a:sym typeface="Calibri (MS)"/>
              </a:rPr>
              <a:t>letra</a:t>
            </a:r>
            <a:r>
              <a:rPr lang="en-US" sz="8000" dirty="0">
                <a:solidFill>
                  <a:srgbClr val="000000"/>
                </a:solidFill>
                <a:latin typeface="Calibri" panose="020F0502020204030204" pitchFamily="34" charset="0"/>
                <a:ea typeface="Calibri (MS)"/>
                <a:cs typeface="Calibri" panose="020F0502020204030204" pitchFamily="34" charset="0"/>
                <a:sym typeface="Calibri (MS)"/>
              </a:rPr>
              <a:t> </a:t>
            </a:r>
            <a:r>
              <a:rPr lang="en-US" sz="8000" dirty="0" err="1">
                <a:solidFill>
                  <a:srgbClr val="000000"/>
                </a:solidFill>
                <a:latin typeface="Calibri" panose="020F0502020204030204" pitchFamily="34" charset="0"/>
                <a:ea typeface="Calibri (MS)"/>
                <a:cs typeface="Calibri" panose="020F0502020204030204" pitchFamily="34" charset="0"/>
                <a:sym typeface="Calibri (MS)"/>
              </a:rPr>
              <a:t>maiúscula</a:t>
            </a:r>
            <a:r>
              <a:rPr lang="en-US" sz="8000" dirty="0">
                <a:solidFill>
                  <a:srgbClr val="000000"/>
                </a:solidFill>
                <a:latin typeface="Calibri" panose="020F0502020204030204" pitchFamily="34" charset="0"/>
                <a:ea typeface="Calibri (MS)"/>
                <a:cs typeface="Calibri" panose="020F0502020204030204" pitchFamily="34" charset="0"/>
                <a:sym typeface="Calibri (MS)"/>
              </a:rPr>
              <a:t> Calibri nº 80)</a:t>
            </a:r>
          </a:p>
        </p:txBody>
      </p:sp>
      <p:sp>
        <p:nvSpPr>
          <p:cNvPr id="15" name="TextBox 15"/>
          <p:cNvSpPr txBox="1"/>
          <p:nvPr/>
        </p:nvSpPr>
        <p:spPr>
          <a:xfrm>
            <a:off x="8123169" y="8293874"/>
            <a:ext cx="16683638" cy="818301"/>
          </a:xfrm>
          <a:prstGeom prst="rect">
            <a:avLst/>
          </a:prstGeom>
        </p:spPr>
        <p:txBody>
          <a:bodyPr lIns="0" tIns="0" rIns="0" bIns="0" rtlCol="0" anchor="t">
            <a:spAutoFit/>
          </a:bodyPr>
          <a:lstStyle/>
          <a:p>
            <a:pPr algn="ctr">
              <a:lnSpc>
                <a:spcPts val="7074"/>
              </a:lnSpc>
            </a:pPr>
            <a:r>
              <a:rPr lang="en-US" sz="4000" dirty="0">
                <a:latin typeface="Calibri" panose="020F0502020204030204" pitchFamily="34" charset="0"/>
                <a:cs typeface="Calibri" panose="020F0502020204030204" pitchFamily="34" charset="0"/>
                <a:sym typeface="Calibri (MS)"/>
              </a:rPr>
              <a:t>(</a:t>
            </a:r>
            <a:r>
              <a:rPr lang="en-US" sz="4000" dirty="0" err="1">
                <a:latin typeface="Calibri" panose="020F0502020204030204" pitchFamily="34" charset="0"/>
                <a:cs typeface="Calibri" panose="020F0502020204030204" pitchFamily="34" charset="0"/>
                <a:sym typeface="Calibri (MS)"/>
              </a:rPr>
              <a:t>Autores</a:t>
            </a:r>
            <a:r>
              <a:rPr lang="en-US" sz="4000" dirty="0">
                <a:latin typeface="Calibri" panose="020F0502020204030204" pitchFamily="34" charset="0"/>
                <a:cs typeface="Calibri" panose="020F0502020204030204" pitchFamily="34" charset="0"/>
                <a:sym typeface="Calibri (MS)"/>
              </a:rPr>
              <a:t>,  </a:t>
            </a:r>
            <a:r>
              <a:rPr lang="en-US" sz="4000" dirty="0" err="1">
                <a:latin typeface="Calibri" panose="020F0502020204030204" pitchFamily="34" charset="0"/>
                <a:cs typeface="Calibri" panose="020F0502020204030204" pitchFamily="34" charset="0"/>
                <a:sym typeface="Calibri (MS)"/>
              </a:rPr>
              <a:t>mInúscula</a:t>
            </a:r>
            <a:r>
              <a:rPr lang="en-US" sz="4000" dirty="0">
                <a:latin typeface="Calibri" panose="020F0502020204030204" pitchFamily="34" charset="0"/>
                <a:cs typeface="Calibri" panose="020F0502020204030204" pitchFamily="34" charset="0"/>
                <a:sym typeface="Calibri (MS)"/>
              </a:rPr>
              <a:t>, Calibri nº40) </a:t>
            </a:r>
          </a:p>
        </p:txBody>
      </p:sp>
      <p:sp>
        <p:nvSpPr>
          <p:cNvPr id="16" name="TextBox 16"/>
          <p:cNvSpPr txBox="1"/>
          <p:nvPr/>
        </p:nvSpPr>
        <p:spPr>
          <a:xfrm>
            <a:off x="2243403" y="9575510"/>
            <a:ext cx="27913193" cy="818301"/>
          </a:xfrm>
          <a:prstGeom prst="rect">
            <a:avLst/>
          </a:prstGeom>
        </p:spPr>
        <p:txBody>
          <a:bodyPr lIns="0" tIns="0" rIns="0" bIns="0" rtlCol="0" anchor="t">
            <a:spAutoFit/>
          </a:bodyPr>
          <a:lstStyle/>
          <a:p>
            <a:pPr algn="ctr">
              <a:lnSpc>
                <a:spcPts val="7074"/>
              </a:lnSpc>
            </a:pPr>
            <a:r>
              <a:rPr lang="en-US" sz="4000">
                <a:sym typeface="Calibri (MS)"/>
              </a:rPr>
              <a:t>InstItuIção/UnIdade UnIversItárIa (mInúscula, CalIbrI</a:t>
            </a:r>
            <a:r>
              <a:rPr lang="en-US" sz="4000" dirty="0">
                <a:sym typeface="Calibri (MS)"/>
              </a:rPr>
              <a:t> n</a:t>
            </a:r>
            <a:r>
              <a:rPr lang="en-US" sz="4000">
                <a:sym typeface="Calibri (MS)"/>
              </a:rPr>
              <a:t>. 40)</a:t>
            </a:r>
            <a:endParaRPr lang="en-US" sz="4000" dirty="0">
              <a:sym typeface="Calibri (MS)"/>
            </a:endParaRPr>
          </a:p>
        </p:txBody>
      </p:sp>
      <p:sp>
        <p:nvSpPr>
          <p:cNvPr id="17" name="TextBox 17"/>
          <p:cNvSpPr txBox="1"/>
          <p:nvPr/>
        </p:nvSpPr>
        <p:spPr>
          <a:xfrm>
            <a:off x="2433674" y="11370267"/>
            <a:ext cx="11795812" cy="1349260"/>
          </a:xfrm>
          <a:prstGeom prst="rect">
            <a:avLst/>
          </a:prstGeom>
        </p:spPr>
        <p:txBody>
          <a:bodyPr lIns="0" tIns="0" rIns="0" bIns="0" rtlCol="0" anchor="t">
            <a:spAutoFit/>
          </a:bodyPr>
          <a:lstStyle/>
          <a:p>
            <a:pPr algn="ctr">
              <a:lnSpc>
                <a:spcPts val="10138"/>
              </a:lnSpc>
            </a:pPr>
            <a:r>
              <a:rPr lang="en-US" sz="7242" b="1">
                <a:solidFill>
                  <a:srgbClr val="FFFFFF"/>
                </a:solidFill>
                <a:latin typeface="Open Sans 1 Bold"/>
                <a:ea typeface="Open Sans 1 Bold"/>
                <a:cs typeface="Open Sans 1 Bold"/>
                <a:sym typeface="Open Sans 1 Bold"/>
              </a:rPr>
              <a:t>INTRODUÇÃO</a:t>
            </a:r>
          </a:p>
        </p:txBody>
      </p:sp>
      <p:sp>
        <p:nvSpPr>
          <p:cNvPr id="18" name="TextBox 18"/>
          <p:cNvSpPr txBox="1"/>
          <p:nvPr/>
        </p:nvSpPr>
        <p:spPr>
          <a:xfrm>
            <a:off x="1487349" y="13171550"/>
            <a:ext cx="14131410" cy="6133667"/>
          </a:xfrm>
          <a:prstGeom prst="rect">
            <a:avLst/>
          </a:prstGeom>
        </p:spPr>
        <p:txBody>
          <a:bodyPr wrap="square" lIns="0" tIns="0" rIns="0" bIns="0" rtlCol="0" anchor="t">
            <a:spAutoFit/>
          </a:bodyPr>
          <a:lstStyle/>
          <a:p>
            <a:pPr algn="just">
              <a:lnSpc>
                <a:spcPts val="4786"/>
              </a:lnSpc>
            </a:pPr>
            <a:r>
              <a:rPr lang="en-US" sz="3900">
                <a:sym typeface="Calibri (MS)"/>
              </a:rPr>
              <a:t>As nomeações</a:t>
            </a:r>
            <a:r>
              <a:rPr lang="en-US" sz="3900" dirty="0">
                <a:sym typeface="Calibri (MS)"/>
              </a:rPr>
              <a:t> </a:t>
            </a:r>
            <a:r>
              <a:rPr lang="en-US" sz="3900">
                <a:sym typeface="Calibri (MS)"/>
              </a:rPr>
              <a:t>dos itens podem</a:t>
            </a:r>
            <a:r>
              <a:rPr lang="en-US" sz="3900" dirty="0">
                <a:sym typeface="Calibri (MS)"/>
              </a:rPr>
              <a:t> </a:t>
            </a:r>
            <a:r>
              <a:rPr lang="en-US" sz="3900">
                <a:sym typeface="Calibri (MS)"/>
              </a:rPr>
              <a:t>ser adaptadas pelos autores. Sugere-se letra minúscula</a:t>
            </a:r>
            <a:r>
              <a:rPr lang="en-US" sz="3900" dirty="0">
                <a:sym typeface="Calibri (MS)"/>
              </a:rPr>
              <a:t>, Calibri n. 40</a:t>
            </a:r>
          </a:p>
          <a:p>
            <a:pPr algn="just">
              <a:lnSpc>
                <a:spcPts val="4786"/>
              </a:lnSpc>
            </a:pPr>
            <a:r>
              <a:rPr lang="en-US" sz="3900">
                <a:sym typeface="Calibri (MS)"/>
              </a:rPr>
              <a:t>Resumo convencional: Relato</a:t>
            </a:r>
            <a:r>
              <a:rPr lang="en-US" sz="3900" dirty="0">
                <a:sym typeface="Calibri (MS)"/>
              </a:rPr>
              <a:t> </a:t>
            </a:r>
            <a:r>
              <a:rPr lang="en-US" sz="3900">
                <a:sym typeface="Calibri (MS)"/>
              </a:rPr>
              <a:t>de caso: Introdução/Objetivo, Casuística/Relato</a:t>
            </a:r>
            <a:r>
              <a:rPr lang="en-US" sz="3900" dirty="0">
                <a:sym typeface="Calibri (MS)"/>
              </a:rPr>
              <a:t> </a:t>
            </a:r>
            <a:r>
              <a:rPr lang="en-US" sz="3900">
                <a:sym typeface="Calibri (MS)"/>
              </a:rPr>
              <a:t>de caso, Desenvolvimento, Conclusões</a:t>
            </a:r>
            <a:r>
              <a:rPr lang="en-US" sz="3900" dirty="0">
                <a:sym typeface="Calibri (MS)"/>
              </a:rPr>
              <a:t> </a:t>
            </a:r>
            <a:r>
              <a:rPr lang="en-US" sz="3900">
                <a:sym typeface="Calibri (MS)"/>
              </a:rPr>
              <a:t>e Referências</a:t>
            </a:r>
            <a:r>
              <a:rPr lang="en-US" sz="3900" dirty="0">
                <a:sym typeface="Calibri (MS)"/>
              </a:rPr>
              <a:t>.</a:t>
            </a:r>
          </a:p>
          <a:p>
            <a:pPr algn="just">
              <a:lnSpc>
                <a:spcPts val="4786"/>
              </a:lnSpc>
            </a:pPr>
            <a:r>
              <a:rPr lang="en-US" sz="3900">
                <a:sym typeface="Calibri (MS)"/>
              </a:rPr>
              <a:t>Pesquisa científica: Objetivo, Metodologia, Resultados</a:t>
            </a:r>
            <a:r>
              <a:rPr lang="en-US" sz="3900" dirty="0">
                <a:sym typeface="Calibri (MS)"/>
              </a:rPr>
              <a:t> </a:t>
            </a:r>
            <a:r>
              <a:rPr lang="en-US" sz="3900">
                <a:sym typeface="Calibri (MS)"/>
              </a:rPr>
              <a:t>e Discussão</a:t>
            </a:r>
            <a:r>
              <a:rPr lang="en-US" sz="3900" dirty="0">
                <a:sym typeface="Calibri (MS)"/>
              </a:rPr>
              <a:t> </a:t>
            </a:r>
            <a:r>
              <a:rPr lang="en-US" sz="3900">
                <a:sym typeface="Calibri (MS)"/>
              </a:rPr>
              <a:t>e Conclusões. Obrigatório informação referente</a:t>
            </a:r>
            <a:r>
              <a:rPr lang="en-US" sz="3900" dirty="0">
                <a:sym typeface="Calibri (MS)"/>
              </a:rPr>
              <a:t> </a:t>
            </a:r>
            <a:r>
              <a:rPr lang="en-US" sz="3900">
                <a:sym typeface="Calibri (MS)"/>
              </a:rPr>
              <a:t>a Comissão</a:t>
            </a:r>
            <a:r>
              <a:rPr lang="en-US" sz="3900" dirty="0">
                <a:sym typeface="Calibri (MS)"/>
              </a:rPr>
              <a:t> </a:t>
            </a:r>
            <a:r>
              <a:rPr lang="en-US" sz="3900">
                <a:sym typeface="Calibri (MS)"/>
              </a:rPr>
              <a:t>de Ética</a:t>
            </a:r>
            <a:r>
              <a:rPr lang="en-US" sz="3900" dirty="0">
                <a:sym typeface="Calibri (MS)"/>
              </a:rPr>
              <a:t> </a:t>
            </a:r>
            <a:r>
              <a:rPr lang="en-US" sz="3900">
                <a:sym typeface="Calibri (MS)"/>
              </a:rPr>
              <a:t>e Referências</a:t>
            </a:r>
            <a:r>
              <a:rPr lang="en-US" sz="3900" dirty="0">
                <a:sym typeface="Calibri (MS)"/>
              </a:rPr>
              <a:t>.</a:t>
            </a:r>
          </a:p>
          <a:p>
            <a:pPr algn="just">
              <a:lnSpc>
                <a:spcPts val="4786"/>
              </a:lnSpc>
            </a:pPr>
            <a:r>
              <a:rPr lang="en-US" sz="3900">
                <a:sym typeface="Calibri (MS)"/>
              </a:rPr>
              <a:t>Resumo fotográfico: Disposição</a:t>
            </a:r>
            <a:r>
              <a:rPr lang="en-US" sz="3900" dirty="0">
                <a:sym typeface="Calibri (MS)"/>
              </a:rPr>
              <a:t> central </a:t>
            </a:r>
            <a:r>
              <a:rPr lang="en-US" sz="3900">
                <a:sym typeface="Calibri (MS)"/>
              </a:rPr>
              <a:t>da foto, descrição abaixo. Referência obrigatória.</a:t>
            </a:r>
            <a:endParaRPr lang="en-US" sz="3900" dirty="0">
              <a:sym typeface="Calibri (MS)"/>
            </a:endParaRPr>
          </a:p>
        </p:txBody>
      </p:sp>
      <p:sp>
        <p:nvSpPr>
          <p:cNvPr id="19" name="TextBox 19"/>
          <p:cNvSpPr txBox="1"/>
          <p:nvPr/>
        </p:nvSpPr>
        <p:spPr>
          <a:xfrm>
            <a:off x="17106044" y="13042579"/>
            <a:ext cx="14037436" cy="5043932"/>
          </a:xfrm>
          <a:prstGeom prst="rect">
            <a:avLst/>
          </a:prstGeom>
        </p:spPr>
        <p:txBody>
          <a:bodyPr lIns="0" tIns="0" rIns="0" bIns="0" rtlCol="0" anchor="t">
            <a:spAutoFit/>
          </a:bodyPr>
          <a:lstStyle/>
          <a:p>
            <a:pPr algn="just">
              <a:lnSpc>
                <a:spcPts val="5659"/>
              </a:lnSpc>
            </a:pPr>
            <a:r>
              <a:rPr lang="en-US" sz="4000" dirty="0">
                <a:solidFill>
                  <a:srgbClr val="000000"/>
                </a:solidFill>
                <a:latin typeface="Calibri (MS)"/>
                <a:ea typeface="Calibri (MS)"/>
                <a:cs typeface="Calibri (MS)"/>
                <a:sym typeface="Calibri (MS)"/>
              </a:rPr>
              <a:t>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a:t>
            </a:r>
          </a:p>
        </p:txBody>
      </p:sp>
      <p:sp>
        <p:nvSpPr>
          <p:cNvPr id="20" name="TextBox 20"/>
          <p:cNvSpPr txBox="1"/>
          <p:nvPr/>
        </p:nvSpPr>
        <p:spPr>
          <a:xfrm>
            <a:off x="17157094" y="26510212"/>
            <a:ext cx="13986387" cy="5043932"/>
          </a:xfrm>
          <a:prstGeom prst="rect">
            <a:avLst/>
          </a:prstGeom>
        </p:spPr>
        <p:txBody>
          <a:bodyPr lIns="0" tIns="0" rIns="0" bIns="0" rtlCol="0" anchor="t">
            <a:spAutoFit/>
          </a:bodyPr>
          <a:lstStyle/>
          <a:p>
            <a:pPr algn="just">
              <a:lnSpc>
                <a:spcPts val="5659"/>
              </a:lnSpc>
            </a:pPr>
            <a:r>
              <a:rPr lang="en-US" sz="4000">
                <a:solidFill>
                  <a:srgbClr val="000000"/>
                </a:solidFill>
                <a:latin typeface="Calibri (MS)"/>
                <a:ea typeface="Calibri (MS)"/>
                <a:cs typeface="Calibri (MS)"/>
                <a:sym typeface="Calibri (MS)"/>
              </a:rPr>
              <a:t>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a:t>
            </a:r>
          </a:p>
        </p:txBody>
      </p:sp>
      <p:sp>
        <p:nvSpPr>
          <p:cNvPr id="21" name="TextBox 21"/>
          <p:cNvSpPr txBox="1"/>
          <p:nvPr/>
        </p:nvSpPr>
        <p:spPr>
          <a:xfrm>
            <a:off x="1487349" y="25598322"/>
            <a:ext cx="13969299" cy="5043932"/>
          </a:xfrm>
          <a:prstGeom prst="rect">
            <a:avLst/>
          </a:prstGeom>
        </p:spPr>
        <p:txBody>
          <a:bodyPr lIns="0" tIns="0" rIns="0" bIns="0" rtlCol="0" anchor="t">
            <a:spAutoFit/>
          </a:bodyPr>
          <a:lstStyle/>
          <a:p>
            <a:pPr algn="just">
              <a:lnSpc>
                <a:spcPts val="5659"/>
              </a:lnSpc>
            </a:pPr>
            <a:r>
              <a:rPr lang="en-US" sz="4000">
                <a:solidFill>
                  <a:srgbClr val="000000"/>
                </a:solidFill>
                <a:latin typeface="Calibri (MS)"/>
                <a:ea typeface="Calibri (MS)"/>
                <a:cs typeface="Calibri (MS)"/>
                <a:sym typeface="Calibri (MS)"/>
              </a:rPr>
              <a:t>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a:t>
            </a:r>
          </a:p>
        </p:txBody>
      </p:sp>
      <p:sp>
        <p:nvSpPr>
          <p:cNvPr id="22" name="TextBox 22"/>
          <p:cNvSpPr txBox="1"/>
          <p:nvPr/>
        </p:nvSpPr>
        <p:spPr>
          <a:xfrm>
            <a:off x="1487349" y="20624972"/>
            <a:ext cx="13969299" cy="2195455"/>
          </a:xfrm>
          <a:prstGeom prst="rect">
            <a:avLst/>
          </a:prstGeom>
        </p:spPr>
        <p:txBody>
          <a:bodyPr lIns="0" tIns="0" rIns="0" bIns="0" rtlCol="0" anchor="t">
            <a:spAutoFit/>
          </a:bodyPr>
          <a:lstStyle/>
          <a:p>
            <a:pPr algn="just">
              <a:lnSpc>
                <a:spcPts val="5631"/>
              </a:lnSpc>
            </a:pPr>
            <a:r>
              <a:rPr lang="en-US" sz="3980">
                <a:solidFill>
                  <a:srgbClr val="000000"/>
                </a:solidFill>
                <a:latin typeface="Calibri (MS)"/>
                <a:ea typeface="Calibri (MS)"/>
                <a:cs typeface="Calibri (MS)"/>
                <a:sym typeface="Calibri (MS)"/>
              </a:rPr>
              <a:t>ENPCV ENPCV ENPCV ENPCV ENPCV ENPCV ENPCV ENPCV ENPCV ENPCV ENPCV ENPCV ENPCV ENPCV ENPCV ENPCV ENPCV ENPCV ENPCV ENPCV ENPCV.</a:t>
            </a:r>
          </a:p>
        </p:txBody>
      </p:sp>
      <p:sp>
        <p:nvSpPr>
          <p:cNvPr id="23" name="TextBox 23"/>
          <p:cNvSpPr txBox="1"/>
          <p:nvPr/>
        </p:nvSpPr>
        <p:spPr>
          <a:xfrm>
            <a:off x="20124443" y="19591461"/>
            <a:ext cx="8000638" cy="1965608"/>
          </a:xfrm>
          <a:prstGeom prst="rect">
            <a:avLst/>
          </a:prstGeom>
        </p:spPr>
        <p:txBody>
          <a:bodyPr lIns="0" tIns="0" rIns="0" bIns="0" rtlCol="0" anchor="t">
            <a:spAutoFit/>
          </a:bodyPr>
          <a:lstStyle/>
          <a:p>
            <a:pPr algn="ctr">
              <a:lnSpc>
                <a:spcPts val="7515"/>
              </a:lnSpc>
            </a:pPr>
            <a:r>
              <a:rPr lang="en-US" sz="5367" b="1">
                <a:solidFill>
                  <a:srgbClr val="000000"/>
                </a:solidFill>
                <a:latin typeface="Open Sans 1 Bold"/>
                <a:ea typeface="Open Sans 1 Bold"/>
                <a:cs typeface="Open Sans 1 Bold"/>
                <a:sym typeface="Open Sans 1 Bold"/>
              </a:rPr>
              <a:t>IMAGEM COM LEGENDA</a:t>
            </a:r>
          </a:p>
        </p:txBody>
      </p:sp>
      <p:sp>
        <p:nvSpPr>
          <p:cNvPr id="24" name="TextBox 24"/>
          <p:cNvSpPr txBox="1"/>
          <p:nvPr/>
        </p:nvSpPr>
        <p:spPr>
          <a:xfrm>
            <a:off x="4126389" y="35817699"/>
            <a:ext cx="8000638" cy="1965608"/>
          </a:xfrm>
          <a:prstGeom prst="rect">
            <a:avLst/>
          </a:prstGeom>
        </p:spPr>
        <p:txBody>
          <a:bodyPr lIns="0" tIns="0" rIns="0" bIns="0" rtlCol="0" anchor="t">
            <a:spAutoFit/>
          </a:bodyPr>
          <a:lstStyle/>
          <a:p>
            <a:pPr algn="ctr">
              <a:lnSpc>
                <a:spcPts val="7515"/>
              </a:lnSpc>
            </a:pPr>
            <a:r>
              <a:rPr lang="en-US" sz="5367" b="1">
                <a:solidFill>
                  <a:srgbClr val="000000"/>
                </a:solidFill>
                <a:latin typeface="Open Sans 1 Bold"/>
                <a:ea typeface="Open Sans 1 Bold"/>
                <a:cs typeface="Open Sans 1 Bold"/>
                <a:sym typeface="Open Sans 1 Bold"/>
              </a:rPr>
              <a:t>IMAGEM COM LEGENDA</a:t>
            </a:r>
          </a:p>
        </p:txBody>
      </p:sp>
      <p:sp>
        <p:nvSpPr>
          <p:cNvPr id="25" name="TextBox 25"/>
          <p:cNvSpPr txBox="1"/>
          <p:nvPr/>
        </p:nvSpPr>
        <p:spPr>
          <a:xfrm>
            <a:off x="17157094" y="34213524"/>
            <a:ext cx="14290628" cy="2900807"/>
          </a:xfrm>
          <a:prstGeom prst="rect">
            <a:avLst/>
          </a:prstGeom>
        </p:spPr>
        <p:txBody>
          <a:bodyPr lIns="0" tIns="0" rIns="0" bIns="0" rtlCol="0" anchor="t">
            <a:spAutoFit/>
          </a:bodyPr>
          <a:lstStyle/>
          <a:p>
            <a:pPr algn="just">
              <a:lnSpc>
                <a:spcPts val="5659"/>
              </a:lnSpc>
            </a:pPr>
            <a:r>
              <a:rPr lang="en-US" sz="4000">
                <a:solidFill>
                  <a:srgbClr val="000000"/>
                </a:solidFill>
                <a:latin typeface="Calibri (MS)"/>
                <a:ea typeface="Calibri (MS)"/>
                <a:cs typeface="Calibri (MS)"/>
                <a:sym typeface="Calibri (MS)"/>
              </a:rPr>
              <a:t>ENPCV ENPCV ENPCV ENPCV ENPCV ENPCV ENPCV ENPCV ENPCV ENPCV ENPCV ENPCV ENPCV ENPCV ENPCV ENPCV ENPCV ENPCV ENPCV ENPCV ENPCV ENPCV ENPCV ENPCV ENPCV ENPCV ENPCV ENPCV </a:t>
            </a:r>
          </a:p>
        </p:txBody>
      </p:sp>
      <p:sp>
        <p:nvSpPr>
          <p:cNvPr id="26" name="TextBox 26"/>
          <p:cNvSpPr txBox="1"/>
          <p:nvPr/>
        </p:nvSpPr>
        <p:spPr>
          <a:xfrm>
            <a:off x="21472718" y="40360854"/>
            <a:ext cx="12495971" cy="1202124"/>
          </a:xfrm>
          <a:prstGeom prst="rect">
            <a:avLst/>
          </a:prstGeom>
        </p:spPr>
        <p:txBody>
          <a:bodyPr lIns="0" tIns="0" rIns="0" bIns="0" rtlCol="0" anchor="t">
            <a:spAutoFit/>
          </a:bodyPr>
          <a:lstStyle/>
          <a:p>
            <a:pPr algn="just">
              <a:lnSpc>
                <a:spcPts val="10044"/>
              </a:lnSpc>
            </a:pPr>
            <a:r>
              <a:rPr lang="en-US" sz="7100" dirty="0" err="1">
                <a:sym typeface="Calibri (MS)"/>
              </a:rPr>
              <a:t>Espaço</a:t>
            </a:r>
            <a:r>
              <a:rPr lang="en-US" sz="7100" dirty="0">
                <a:sym typeface="Calibri (MS)"/>
              </a:rPr>
              <a:t> para logo </a:t>
            </a:r>
          </a:p>
        </p:txBody>
      </p:sp>
      <p:grpSp>
        <p:nvGrpSpPr>
          <p:cNvPr id="27" name="Group 27"/>
          <p:cNvGrpSpPr/>
          <p:nvPr/>
        </p:nvGrpSpPr>
        <p:grpSpPr>
          <a:xfrm>
            <a:off x="1001640" y="18813317"/>
            <a:ext cx="14659882" cy="1668780"/>
            <a:chOff x="0" y="0"/>
            <a:chExt cx="1225880" cy="139573"/>
          </a:xfrm>
        </p:grpSpPr>
        <p:sp>
          <p:nvSpPr>
            <p:cNvPr id="28" name="Freeform 28"/>
            <p:cNvSpPr/>
            <p:nvPr/>
          </p:nvSpPr>
          <p:spPr>
            <a:xfrm>
              <a:off x="0" y="0"/>
              <a:ext cx="1225880" cy="139573"/>
            </a:xfrm>
            <a:custGeom>
              <a:avLst/>
              <a:gdLst/>
              <a:ahLst/>
              <a:cxnLst/>
              <a:rect l="l" t="t" r="r" b="b"/>
              <a:pathLst>
                <a:path w="1225880" h="139573">
                  <a:moveTo>
                    <a:pt x="1225880" y="7922"/>
                  </a:moveTo>
                  <a:lnTo>
                    <a:pt x="1225880" y="131651"/>
                  </a:lnTo>
                  <a:cubicBezTo>
                    <a:pt x="1225880" y="136026"/>
                    <a:pt x="1222333" y="139573"/>
                    <a:pt x="1217958" y="139573"/>
                  </a:cubicBezTo>
                  <a:lnTo>
                    <a:pt x="7922" y="139573"/>
                  </a:lnTo>
                  <a:cubicBezTo>
                    <a:pt x="5821" y="139573"/>
                    <a:pt x="3806" y="138738"/>
                    <a:pt x="2320" y="137253"/>
                  </a:cubicBezTo>
                  <a:cubicBezTo>
                    <a:pt x="835" y="135767"/>
                    <a:pt x="0" y="133752"/>
                    <a:pt x="0" y="131651"/>
                  </a:cubicBezTo>
                  <a:lnTo>
                    <a:pt x="0" y="7922"/>
                  </a:lnTo>
                  <a:cubicBezTo>
                    <a:pt x="0" y="5821"/>
                    <a:pt x="835" y="3806"/>
                    <a:pt x="2320" y="2320"/>
                  </a:cubicBezTo>
                  <a:cubicBezTo>
                    <a:pt x="3806" y="835"/>
                    <a:pt x="5821" y="0"/>
                    <a:pt x="7922" y="0"/>
                  </a:cubicBezTo>
                  <a:lnTo>
                    <a:pt x="1217958" y="0"/>
                  </a:lnTo>
                  <a:cubicBezTo>
                    <a:pt x="1220059" y="0"/>
                    <a:pt x="1222074" y="835"/>
                    <a:pt x="1223560" y="2320"/>
                  </a:cubicBezTo>
                  <a:cubicBezTo>
                    <a:pt x="1225045" y="3806"/>
                    <a:pt x="1225880" y="5821"/>
                    <a:pt x="1225880" y="7922"/>
                  </a:cubicBezTo>
                  <a:close/>
                </a:path>
              </a:pathLst>
            </a:custGeom>
            <a:solidFill>
              <a:srgbClr val="2325C9"/>
            </a:solidFill>
          </p:spPr>
          <p:txBody>
            <a:bodyPr/>
            <a:lstStyle/>
            <a:p>
              <a:endParaRPr lang="pt-BR"/>
            </a:p>
          </p:txBody>
        </p:sp>
        <p:sp>
          <p:nvSpPr>
            <p:cNvPr id="29" name="TextBox 29"/>
            <p:cNvSpPr txBox="1"/>
            <p:nvPr/>
          </p:nvSpPr>
          <p:spPr>
            <a:xfrm>
              <a:off x="0" y="-133350"/>
              <a:ext cx="1225880" cy="272923"/>
            </a:xfrm>
            <a:prstGeom prst="rect">
              <a:avLst/>
            </a:prstGeom>
          </p:spPr>
          <p:txBody>
            <a:bodyPr lIns="50800" tIns="50800" rIns="50800" bIns="50800" rtlCol="0" anchor="ctr"/>
            <a:lstStyle/>
            <a:p>
              <a:pPr algn="ctr">
                <a:lnSpc>
                  <a:spcPts val="10188"/>
                </a:lnSpc>
              </a:pPr>
              <a:endParaRPr/>
            </a:p>
          </p:txBody>
        </p:sp>
      </p:grpSp>
      <p:sp>
        <p:nvSpPr>
          <p:cNvPr id="30" name="TextBox 30"/>
          <p:cNvSpPr txBox="1"/>
          <p:nvPr/>
        </p:nvSpPr>
        <p:spPr>
          <a:xfrm>
            <a:off x="1380326" y="18895283"/>
            <a:ext cx="13670229" cy="1234389"/>
          </a:xfrm>
          <a:prstGeom prst="rect">
            <a:avLst/>
          </a:prstGeom>
        </p:spPr>
        <p:txBody>
          <a:bodyPr lIns="0" tIns="0" rIns="0" bIns="0" rtlCol="0" anchor="t">
            <a:spAutoFit/>
          </a:bodyPr>
          <a:lstStyle/>
          <a:p>
            <a:pPr algn="ctr">
              <a:lnSpc>
                <a:spcPts val="10189"/>
              </a:lnSpc>
            </a:pPr>
            <a:r>
              <a:rPr lang="en-US" sz="7278" b="1">
                <a:solidFill>
                  <a:srgbClr val="FFFFFF"/>
                </a:solidFill>
                <a:latin typeface="Open Sans 1 Bold"/>
                <a:ea typeface="Open Sans 1 Bold"/>
                <a:cs typeface="Open Sans 1 Bold"/>
                <a:sym typeface="Open Sans 1 Bold"/>
              </a:rPr>
              <a:t>OBJETIVO</a:t>
            </a:r>
          </a:p>
        </p:txBody>
      </p:sp>
      <p:grpSp>
        <p:nvGrpSpPr>
          <p:cNvPr id="31" name="Group 31"/>
          <p:cNvGrpSpPr/>
          <p:nvPr/>
        </p:nvGrpSpPr>
        <p:grpSpPr>
          <a:xfrm>
            <a:off x="16911154" y="24828107"/>
            <a:ext cx="14659882" cy="1668780"/>
            <a:chOff x="0" y="0"/>
            <a:chExt cx="1225880" cy="139573"/>
          </a:xfrm>
        </p:grpSpPr>
        <p:sp>
          <p:nvSpPr>
            <p:cNvPr id="32" name="Freeform 32"/>
            <p:cNvSpPr/>
            <p:nvPr/>
          </p:nvSpPr>
          <p:spPr>
            <a:xfrm>
              <a:off x="0" y="0"/>
              <a:ext cx="1225880" cy="139573"/>
            </a:xfrm>
            <a:custGeom>
              <a:avLst/>
              <a:gdLst/>
              <a:ahLst/>
              <a:cxnLst/>
              <a:rect l="l" t="t" r="r" b="b"/>
              <a:pathLst>
                <a:path w="1225880" h="139573">
                  <a:moveTo>
                    <a:pt x="1225880" y="7922"/>
                  </a:moveTo>
                  <a:lnTo>
                    <a:pt x="1225880" y="131651"/>
                  </a:lnTo>
                  <a:cubicBezTo>
                    <a:pt x="1225880" y="136026"/>
                    <a:pt x="1222333" y="139573"/>
                    <a:pt x="1217958" y="139573"/>
                  </a:cubicBezTo>
                  <a:lnTo>
                    <a:pt x="7922" y="139573"/>
                  </a:lnTo>
                  <a:cubicBezTo>
                    <a:pt x="5821" y="139573"/>
                    <a:pt x="3806" y="138738"/>
                    <a:pt x="2320" y="137253"/>
                  </a:cubicBezTo>
                  <a:cubicBezTo>
                    <a:pt x="835" y="135767"/>
                    <a:pt x="0" y="133752"/>
                    <a:pt x="0" y="131651"/>
                  </a:cubicBezTo>
                  <a:lnTo>
                    <a:pt x="0" y="7922"/>
                  </a:lnTo>
                  <a:cubicBezTo>
                    <a:pt x="0" y="5821"/>
                    <a:pt x="835" y="3806"/>
                    <a:pt x="2320" y="2320"/>
                  </a:cubicBezTo>
                  <a:cubicBezTo>
                    <a:pt x="3806" y="835"/>
                    <a:pt x="5821" y="0"/>
                    <a:pt x="7922" y="0"/>
                  </a:cubicBezTo>
                  <a:lnTo>
                    <a:pt x="1217958" y="0"/>
                  </a:lnTo>
                  <a:cubicBezTo>
                    <a:pt x="1220059" y="0"/>
                    <a:pt x="1222074" y="835"/>
                    <a:pt x="1223560" y="2320"/>
                  </a:cubicBezTo>
                  <a:cubicBezTo>
                    <a:pt x="1225045" y="3806"/>
                    <a:pt x="1225880" y="5821"/>
                    <a:pt x="1225880" y="7922"/>
                  </a:cubicBezTo>
                  <a:close/>
                </a:path>
              </a:pathLst>
            </a:custGeom>
            <a:solidFill>
              <a:srgbClr val="2325C9"/>
            </a:solidFill>
          </p:spPr>
          <p:txBody>
            <a:bodyPr/>
            <a:lstStyle/>
            <a:p>
              <a:endParaRPr lang="pt-BR"/>
            </a:p>
          </p:txBody>
        </p:sp>
        <p:sp>
          <p:nvSpPr>
            <p:cNvPr id="33" name="TextBox 33"/>
            <p:cNvSpPr txBox="1"/>
            <p:nvPr/>
          </p:nvSpPr>
          <p:spPr>
            <a:xfrm>
              <a:off x="0" y="-133350"/>
              <a:ext cx="1225880" cy="272923"/>
            </a:xfrm>
            <a:prstGeom prst="rect">
              <a:avLst/>
            </a:prstGeom>
          </p:spPr>
          <p:txBody>
            <a:bodyPr lIns="50800" tIns="50800" rIns="50800" bIns="50800" rtlCol="0" anchor="ctr"/>
            <a:lstStyle/>
            <a:p>
              <a:pPr algn="ctr">
                <a:lnSpc>
                  <a:spcPts val="10188"/>
                </a:lnSpc>
              </a:pPr>
              <a:endParaRPr/>
            </a:p>
          </p:txBody>
        </p:sp>
      </p:grpSp>
      <p:sp>
        <p:nvSpPr>
          <p:cNvPr id="34" name="TextBox 34"/>
          <p:cNvSpPr txBox="1"/>
          <p:nvPr/>
        </p:nvSpPr>
        <p:spPr>
          <a:xfrm>
            <a:off x="17157094" y="24918180"/>
            <a:ext cx="13986387" cy="1234389"/>
          </a:xfrm>
          <a:prstGeom prst="rect">
            <a:avLst/>
          </a:prstGeom>
        </p:spPr>
        <p:txBody>
          <a:bodyPr lIns="0" tIns="0" rIns="0" bIns="0" rtlCol="0" anchor="t">
            <a:spAutoFit/>
          </a:bodyPr>
          <a:lstStyle/>
          <a:p>
            <a:pPr algn="ctr">
              <a:lnSpc>
                <a:spcPts val="10189"/>
              </a:lnSpc>
            </a:pPr>
            <a:r>
              <a:rPr lang="en-US" sz="7278" b="1">
                <a:solidFill>
                  <a:srgbClr val="FFFFFF"/>
                </a:solidFill>
                <a:latin typeface="Open Sans 1 Bold"/>
                <a:ea typeface="Open Sans 1 Bold"/>
                <a:cs typeface="Open Sans 1 Bold"/>
                <a:sym typeface="Open Sans 1 Bold"/>
              </a:rPr>
              <a:t>CONCLUSÃO</a:t>
            </a:r>
          </a:p>
        </p:txBody>
      </p:sp>
      <p:grpSp>
        <p:nvGrpSpPr>
          <p:cNvPr id="35" name="Group 35"/>
          <p:cNvGrpSpPr/>
          <p:nvPr/>
        </p:nvGrpSpPr>
        <p:grpSpPr>
          <a:xfrm>
            <a:off x="1001640" y="23701234"/>
            <a:ext cx="14659882" cy="1668780"/>
            <a:chOff x="0" y="0"/>
            <a:chExt cx="1225880" cy="139573"/>
          </a:xfrm>
        </p:grpSpPr>
        <p:sp>
          <p:nvSpPr>
            <p:cNvPr id="36" name="Freeform 36"/>
            <p:cNvSpPr/>
            <p:nvPr/>
          </p:nvSpPr>
          <p:spPr>
            <a:xfrm>
              <a:off x="0" y="0"/>
              <a:ext cx="1225880" cy="139573"/>
            </a:xfrm>
            <a:custGeom>
              <a:avLst/>
              <a:gdLst/>
              <a:ahLst/>
              <a:cxnLst/>
              <a:rect l="l" t="t" r="r" b="b"/>
              <a:pathLst>
                <a:path w="1225880" h="139573">
                  <a:moveTo>
                    <a:pt x="1225880" y="7922"/>
                  </a:moveTo>
                  <a:lnTo>
                    <a:pt x="1225880" y="131651"/>
                  </a:lnTo>
                  <a:cubicBezTo>
                    <a:pt x="1225880" y="136026"/>
                    <a:pt x="1222333" y="139573"/>
                    <a:pt x="1217958" y="139573"/>
                  </a:cubicBezTo>
                  <a:lnTo>
                    <a:pt x="7922" y="139573"/>
                  </a:lnTo>
                  <a:cubicBezTo>
                    <a:pt x="5821" y="139573"/>
                    <a:pt x="3806" y="138738"/>
                    <a:pt x="2320" y="137253"/>
                  </a:cubicBezTo>
                  <a:cubicBezTo>
                    <a:pt x="835" y="135767"/>
                    <a:pt x="0" y="133752"/>
                    <a:pt x="0" y="131651"/>
                  </a:cubicBezTo>
                  <a:lnTo>
                    <a:pt x="0" y="7922"/>
                  </a:lnTo>
                  <a:cubicBezTo>
                    <a:pt x="0" y="5821"/>
                    <a:pt x="835" y="3806"/>
                    <a:pt x="2320" y="2320"/>
                  </a:cubicBezTo>
                  <a:cubicBezTo>
                    <a:pt x="3806" y="835"/>
                    <a:pt x="5821" y="0"/>
                    <a:pt x="7922" y="0"/>
                  </a:cubicBezTo>
                  <a:lnTo>
                    <a:pt x="1217958" y="0"/>
                  </a:lnTo>
                  <a:cubicBezTo>
                    <a:pt x="1220059" y="0"/>
                    <a:pt x="1222074" y="835"/>
                    <a:pt x="1223560" y="2320"/>
                  </a:cubicBezTo>
                  <a:cubicBezTo>
                    <a:pt x="1225045" y="3806"/>
                    <a:pt x="1225880" y="5821"/>
                    <a:pt x="1225880" y="7922"/>
                  </a:cubicBezTo>
                  <a:close/>
                </a:path>
              </a:pathLst>
            </a:custGeom>
            <a:solidFill>
              <a:srgbClr val="2325C9"/>
            </a:solidFill>
          </p:spPr>
          <p:txBody>
            <a:bodyPr/>
            <a:lstStyle/>
            <a:p>
              <a:endParaRPr lang="pt-BR"/>
            </a:p>
          </p:txBody>
        </p:sp>
        <p:sp>
          <p:nvSpPr>
            <p:cNvPr id="37" name="TextBox 37"/>
            <p:cNvSpPr txBox="1"/>
            <p:nvPr/>
          </p:nvSpPr>
          <p:spPr>
            <a:xfrm>
              <a:off x="0" y="-133350"/>
              <a:ext cx="1225880" cy="272923"/>
            </a:xfrm>
            <a:prstGeom prst="rect">
              <a:avLst/>
            </a:prstGeom>
          </p:spPr>
          <p:txBody>
            <a:bodyPr lIns="50800" tIns="50800" rIns="50800" bIns="50800" rtlCol="0" anchor="ctr"/>
            <a:lstStyle/>
            <a:p>
              <a:pPr algn="ctr">
                <a:lnSpc>
                  <a:spcPts val="10188"/>
                </a:lnSpc>
              </a:pPr>
              <a:endParaRPr/>
            </a:p>
          </p:txBody>
        </p:sp>
      </p:grpSp>
      <p:sp>
        <p:nvSpPr>
          <p:cNvPr id="38" name="TextBox 38"/>
          <p:cNvSpPr txBox="1"/>
          <p:nvPr/>
        </p:nvSpPr>
        <p:spPr>
          <a:xfrm>
            <a:off x="688018" y="23854469"/>
            <a:ext cx="14973504" cy="1228961"/>
          </a:xfrm>
          <a:prstGeom prst="rect">
            <a:avLst/>
          </a:prstGeom>
        </p:spPr>
        <p:txBody>
          <a:bodyPr lIns="0" tIns="0" rIns="0" bIns="0" rtlCol="0" anchor="t">
            <a:spAutoFit/>
          </a:bodyPr>
          <a:lstStyle/>
          <a:p>
            <a:pPr algn="ctr">
              <a:lnSpc>
                <a:spcPts val="10138"/>
              </a:lnSpc>
            </a:pPr>
            <a:r>
              <a:rPr lang="en-US" sz="7242" b="1">
                <a:solidFill>
                  <a:srgbClr val="FFFFFF"/>
                </a:solidFill>
                <a:latin typeface="Open Sans 1 Bold"/>
                <a:ea typeface="Open Sans 1 Bold"/>
                <a:cs typeface="Open Sans 1 Bold"/>
                <a:sym typeface="Open Sans 1 Bold"/>
              </a:rPr>
              <a:t>RELATO DE CASO</a:t>
            </a:r>
          </a:p>
        </p:txBody>
      </p:sp>
      <p:grpSp>
        <p:nvGrpSpPr>
          <p:cNvPr id="39" name="Group 39"/>
          <p:cNvGrpSpPr/>
          <p:nvPr/>
        </p:nvGrpSpPr>
        <p:grpSpPr>
          <a:xfrm>
            <a:off x="16787840" y="11274170"/>
            <a:ext cx="14659882" cy="1668780"/>
            <a:chOff x="0" y="0"/>
            <a:chExt cx="1225880" cy="139573"/>
          </a:xfrm>
        </p:grpSpPr>
        <p:sp>
          <p:nvSpPr>
            <p:cNvPr id="40" name="Freeform 40"/>
            <p:cNvSpPr/>
            <p:nvPr/>
          </p:nvSpPr>
          <p:spPr>
            <a:xfrm>
              <a:off x="0" y="0"/>
              <a:ext cx="1225880" cy="139573"/>
            </a:xfrm>
            <a:custGeom>
              <a:avLst/>
              <a:gdLst/>
              <a:ahLst/>
              <a:cxnLst/>
              <a:rect l="l" t="t" r="r" b="b"/>
              <a:pathLst>
                <a:path w="1225880" h="139573">
                  <a:moveTo>
                    <a:pt x="1225880" y="7922"/>
                  </a:moveTo>
                  <a:lnTo>
                    <a:pt x="1225880" y="131651"/>
                  </a:lnTo>
                  <a:cubicBezTo>
                    <a:pt x="1225880" y="136026"/>
                    <a:pt x="1222333" y="139573"/>
                    <a:pt x="1217958" y="139573"/>
                  </a:cubicBezTo>
                  <a:lnTo>
                    <a:pt x="7922" y="139573"/>
                  </a:lnTo>
                  <a:cubicBezTo>
                    <a:pt x="5821" y="139573"/>
                    <a:pt x="3806" y="138738"/>
                    <a:pt x="2320" y="137253"/>
                  </a:cubicBezTo>
                  <a:cubicBezTo>
                    <a:pt x="835" y="135767"/>
                    <a:pt x="0" y="133752"/>
                    <a:pt x="0" y="131651"/>
                  </a:cubicBezTo>
                  <a:lnTo>
                    <a:pt x="0" y="7922"/>
                  </a:lnTo>
                  <a:cubicBezTo>
                    <a:pt x="0" y="5821"/>
                    <a:pt x="835" y="3806"/>
                    <a:pt x="2320" y="2320"/>
                  </a:cubicBezTo>
                  <a:cubicBezTo>
                    <a:pt x="3806" y="835"/>
                    <a:pt x="5821" y="0"/>
                    <a:pt x="7922" y="0"/>
                  </a:cubicBezTo>
                  <a:lnTo>
                    <a:pt x="1217958" y="0"/>
                  </a:lnTo>
                  <a:cubicBezTo>
                    <a:pt x="1220059" y="0"/>
                    <a:pt x="1222074" y="835"/>
                    <a:pt x="1223560" y="2320"/>
                  </a:cubicBezTo>
                  <a:cubicBezTo>
                    <a:pt x="1225045" y="3806"/>
                    <a:pt x="1225880" y="5821"/>
                    <a:pt x="1225880" y="7922"/>
                  </a:cubicBezTo>
                  <a:close/>
                </a:path>
              </a:pathLst>
            </a:custGeom>
            <a:solidFill>
              <a:srgbClr val="2325C9"/>
            </a:solidFill>
          </p:spPr>
          <p:txBody>
            <a:bodyPr/>
            <a:lstStyle/>
            <a:p>
              <a:endParaRPr lang="pt-BR"/>
            </a:p>
          </p:txBody>
        </p:sp>
        <p:sp>
          <p:nvSpPr>
            <p:cNvPr id="41" name="TextBox 41"/>
            <p:cNvSpPr txBox="1"/>
            <p:nvPr/>
          </p:nvSpPr>
          <p:spPr>
            <a:xfrm>
              <a:off x="0" y="-133350"/>
              <a:ext cx="1225880" cy="272923"/>
            </a:xfrm>
            <a:prstGeom prst="rect">
              <a:avLst/>
            </a:prstGeom>
          </p:spPr>
          <p:txBody>
            <a:bodyPr lIns="50800" tIns="50800" rIns="50800" bIns="50800" rtlCol="0" anchor="ctr"/>
            <a:lstStyle/>
            <a:p>
              <a:pPr algn="ctr">
                <a:lnSpc>
                  <a:spcPts val="10188"/>
                </a:lnSpc>
              </a:pPr>
              <a:endParaRPr/>
            </a:p>
          </p:txBody>
        </p:sp>
      </p:grpSp>
      <p:sp>
        <p:nvSpPr>
          <p:cNvPr id="42" name="TextBox 42"/>
          <p:cNvSpPr txBox="1"/>
          <p:nvPr/>
        </p:nvSpPr>
        <p:spPr>
          <a:xfrm>
            <a:off x="16911154" y="11370267"/>
            <a:ext cx="14536568" cy="1234389"/>
          </a:xfrm>
          <a:prstGeom prst="rect">
            <a:avLst/>
          </a:prstGeom>
        </p:spPr>
        <p:txBody>
          <a:bodyPr lIns="0" tIns="0" rIns="0" bIns="0" rtlCol="0" anchor="t">
            <a:spAutoFit/>
          </a:bodyPr>
          <a:lstStyle/>
          <a:p>
            <a:pPr algn="ctr">
              <a:lnSpc>
                <a:spcPts val="10189"/>
              </a:lnSpc>
            </a:pPr>
            <a:r>
              <a:rPr lang="en-US" sz="7278" b="1">
                <a:solidFill>
                  <a:srgbClr val="FFFFFF"/>
                </a:solidFill>
                <a:latin typeface="Open Sans 1 Bold"/>
                <a:ea typeface="Open Sans 1 Bold"/>
                <a:cs typeface="Open Sans 1 Bold"/>
                <a:sym typeface="Open Sans 1 Bold"/>
              </a:rPr>
              <a:t>EVOLUÇÃO DO CASO</a:t>
            </a:r>
          </a:p>
        </p:txBody>
      </p:sp>
      <p:grpSp>
        <p:nvGrpSpPr>
          <p:cNvPr id="43" name="Group 43"/>
          <p:cNvGrpSpPr/>
          <p:nvPr/>
        </p:nvGrpSpPr>
        <p:grpSpPr>
          <a:xfrm>
            <a:off x="16911154" y="32373294"/>
            <a:ext cx="14659882" cy="1668780"/>
            <a:chOff x="0" y="0"/>
            <a:chExt cx="1225880" cy="139573"/>
          </a:xfrm>
        </p:grpSpPr>
        <p:sp>
          <p:nvSpPr>
            <p:cNvPr id="44" name="Freeform 44"/>
            <p:cNvSpPr/>
            <p:nvPr/>
          </p:nvSpPr>
          <p:spPr>
            <a:xfrm>
              <a:off x="0" y="0"/>
              <a:ext cx="1225880" cy="139573"/>
            </a:xfrm>
            <a:custGeom>
              <a:avLst/>
              <a:gdLst/>
              <a:ahLst/>
              <a:cxnLst/>
              <a:rect l="l" t="t" r="r" b="b"/>
              <a:pathLst>
                <a:path w="1225880" h="139573">
                  <a:moveTo>
                    <a:pt x="1225880" y="7922"/>
                  </a:moveTo>
                  <a:lnTo>
                    <a:pt x="1225880" y="131651"/>
                  </a:lnTo>
                  <a:cubicBezTo>
                    <a:pt x="1225880" y="136026"/>
                    <a:pt x="1222333" y="139573"/>
                    <a:pt x="1217958" y="139573"/>
                  </a:cubicBezTo>
                  <a:lnTo>
                    <a:pt x="7922" y="139573"/>
                  </a:lnTo>
                  <a:cubicBezTo>
                    <a:pt x="5821" y="139573"/>
                    <a:pt x="3806" y="138738"/>
                    <a:pt x="2320" y="137253"/>
                  </a:cubicBezTo>
                  <a:cubicBezTo>
                    <a:pt x="835" y="135767"/>
                    <a:pt x="0" y="133752"/>
                    <a:pt x="0" y="131651"/>
                  </a:cubicBezTo>
                  <a:lnTo>
                    <a:pt x="0" y="7922"/>
                  </a:lnTo>
                  <a:cubicBezTo>
                    <a:pt x="0" y="5821"/>
                    <a:pt x="835" y="3806"/>
                    <a:pt x="2320" y="2320"/>
                  </a:cubicBezTo>
                  <a:cubicBezTo>
                    <a:pt x="3806" y="835"/>
                    <a:pt x="5821" y="0"/>
                    <a:pt x="7922" y="0"/>
                  </a:cubicBezTo>
                  <a:lnTo>
                    <a:pt x="1217958" y="0"/>
                  </a:lnTo>
                  <a:cubicBezTo>
                    <a:pt x="1220059" y="0"/>
                    <a:pt x="1222074" y="835"/>
                    <a:pt x="1223560" y="2320"/>
                  </a:cubicBezTo>
                  <a:cubicBezTo>
                    <a:pt x="1225045" y="3806"/>
                    <a:pt x="1225880" y="5821"/>
                    <a:pt x="1225880" y="7922"/>
                  </a:cubicBezTo>
                  <a:close/>
                </a:path>
              </a:pathLst>
            </a:custGeom>
            <a:solidFill>
              <a:srgbClr val="2325C9"/>
            </a:solidFill>
          </p:spPr>
          <p:txBody>
            <a:bodyPr/>
            <a:lstStyle/>
            <a:p>
              <a:endParaRPr lang="pt-BR"/>
            </a:p>
          </p:txBody>
        </p:sp>
        <p:sp>
          <p:nvSpPr>
            <p:cNvPr id="45" name="TextBox 45"/>
            <p:cNvSpPr txBox="1"/>
            <p:nvPr/>
          </p:nvSpPr>
          <p:spPr>
            <a:xfrm>
              <a:off x="0" y="-133350"/>
              <a:ext cx="1225880" cy="272923"/>
            </a:xfrm>
            <a:prstGeom prst="rect">
              <a:avLst/>
            </a:prstGeom>
          </p:spPr>
          <p:txBody>
            <a:bodyPr lIns="50800" tIns="50800" rIns="50800" bIns="50800" rtlCol="0" anchor="ctr"/>
            <a:lstStyle/>
            <a:p>
              <a:pPr algn="ctr">
                <a:lnSpc>
                  <a:spcPts val="10188"/>
                </a:lnSpc>
              </a:pPr>
              <a:endParaRPr/>
            </a:p>
          </p:txBody>
        </p:sp>
      </p:grpSp>
      <p:sp>
        <p:nvSpPr>
          <p:cNvPr id="46" name="TextBox 46"/>
          <p:cNvSpPr txBox="1"/>
          <p:nvPr/>
        </p:nvSpPr>
        <p:spPr>
          <a:xfrm>
            <a:off x="17106044" y="32487815"/>
            <a:ext cx="14464992" cy="1234389"/>
          </a:xfrm>
          <a:prstGeom prst="rect">
            <a:avLst/>
          </a:prstGeom>
        </p:spPr>
        <p:txBody>
          <a:bodyPr lIns="0" tIns="0" rIns="0" bIns="0" rtlCol="0" anchor="t">
            <a:spAutoFit/>
          </a:bodyPr>
          <a:lstStyle/>
          <a:p>
            <a:pPr algn="ctr">
              <a:lnSpc>
                <a:spcPts val="10189"/>
              </a:lnSpc>
            </a:pPr>
            <a:r>
              <a:rPr lang="en-US" sz="7278" b="1">
                <a:solidFill>
                  <a:srgbClr val="FFFFFF"/>
                </a:solidFill>
                <a:latin typeface="Open Sans 1 Bold"/>
                <a:ea typeface="Open Sans 1 Bold"/>
                <a:cs typeface="Open Sans 1 Bold"/>
                <a:sym typeface="Open Sans 1 Bold"/>
              </a:rPr>
              <a:t>REFERÊNCIAS</a:t>
            </a:r>
          </a:p>
        </p:txBody>
      </p:sp>
      <p:sp>
        <p:nvSpPr>
          <p:cNvPr id="47" name="CaixaDeTexto 46">
            <a:extLst>
              <a:ext uri="{FF2B5EF4-FFF2-40B4-BE49-F238E27FC236}">
                <a16:creationId xmlns:a16="http://schemas.microsoft.com/office/drawing/2014/main" id="{45A0DCAE-1BFF-1C36-CD82-3DF2F81638A5}"/>
              </a:ext>
            </a:extLst>
          </p:cNvPr>
          <p:cNvSpPr txBox="1"/>
          <p:nvPr/>
        </p:nvSpPr>
        <p:spPr>
          <a:xfrm>
            <a:off x="8603101" y="42324979"/>
            <a:ext cx="16203706" cy="707886"/>
          </a:xfrm>
          <a:prstGeom prst="rect">
            <a:avLst/>
          </a:prstGeom>
          <a:noFill/>
        </p:spPr>
        <p:txBody>
          <a:bodyPr wrap="square">
            <a:spAutoFit/>
          </a:bodyPr>
          <a:lstStyle/>
          <a:p>
            <a:pPr algn="ctr" rtl="0">
              <a:buNone/>
            </a:pPr>
            <a:r>
              <a:rPr lang="pt-BR" sz="4000" b="1" i="0" dirty="0">
                <a:solidFill>
                  <a:srgbClr val="000000"/>
                </a:solidFill>
                <a:effectLst/>
              </a:rPr>
              <a:t>E-mail para contato: (centralizado)</a:t>
            </a:r>
            <a:endParaRPr lang="pt-BR" sz="4000" dirty="0">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8157719" y="8580451"/>
            <a:ext cx="16683638" cy="818301"/>
          </a:xfrm>
          <a:prstGeom prst="rect">
            <a:avLst/>
          </a:prstGeom>
        </p:spPr>
        <p:txBody>
          <a:bodyPr lIns="0" tIns="0" rIns="0" bIns="0" rtlCol="0" anchor="t">
            <a:spAutoFit/>
          </a:bodyPr>
          <a:lstStyle/>
          <a:p>
            <a:pPr algn="ctr">
              <a:lnSpc>
                <a:spcPts val="7074"/>
              </a:lnSpc>
            </a:pPr>
            <a:r>
              <a:rPr lang="en-US" sz="4000">
                <a:sym typeface="Calibri (MS)"/>
              </a:rPr>
              <a:t>(Autores,  mInúscula, CalIbrI</a:t>
            </a:r>
            <a:r>
              <a:rPr lang="en-US" sz="4000" dirty="0">
                <a:sym typeface="Calibri (MS)"/>
              </a:rPr>
              <a:t> n. 40) </a:t>
            </a:r>
          </a:p>
        </p:txBody>
      </p:sp>
      <p:sp>
        <p:nvSpPr>
          <p:cNvPr id="3" name="TextBox 3"/>
          <p:cNvSpPr txBox="1"/>
          <p:nvPr/>
        </p:nvSpPr>
        <p:spPr>
          <a:xfrm>
            <a:off x="2271815" y="9681579"/>
            <a:ext cx="27913193" cy="818301"/>
          </a:xfrm>
          <a:prstGeom prst="rect">
            <a:avLst/>
          </a:prstGeom>
        </p:spPr>
        <p:txBody>
          <a:bodyPr lIns="0" tIns="0" rIns="0" bIns="0" rtlCol="0" anchor="t">
            <a:spAutoFit/>
          </a:bodyPr>
          <a:lstStyle/>
          <a:p>
            <a:pPr algn="ctr">
              <a:lnSpc>
                <a:spcPts val="7074"/>
              </a:lnSpc>
            </a:pPr>
            <a:r>
              <a:rPr lang="en-US" sz="4000">
                <a:sym typeface="Calibri (MS)"/>
              </a:rPr>
              <a:t>InstItuIção/UnIdade UnIversItárIa (mInúscula, CalIbrI n. 40)</a:t>
            </a:r>
          </a:p>
        </p:txBody>
      </p:sp>
      <p:sp>
        <p:nvSpPr>
          <p:cNvPr id="4" name="TextBox 4"/>
          <p:cNvSpPr txBox="1"/>
          <p:nvPr/>
        </p:nvSpPr>
        <p:spPr>
          <a:xfrm>
            <a:off x="1323928" y="30043833"/>
            <a:ext cx="29752145" cy="12580020"/>
          </a:xfrm>
          <a:prstGeom prst="rect">
            <a:avLst/>
          </a:prstGeom>
        </p:spPr>
        <p:txBody>
          <a:bodyPr lIns="0" tIns="0" rIns="0" bIns="0" rtlCol="0" anchor="t">
            <a:spAutoFit/>
          </a:bodyPr>
          <a:lstStyle/>
          <a:p>
            <a:pPr algn="just">
              <a:lnSpc>
                <a:spcPts val="6693"/>
              </a:lnSpc>
            </a:pPr>
            <a:r>
              <a:rPr lang="en-US" sz="4781" b="1">
                <a:solidFill>
                  <a:srgbClr val="000000"/>
                </a:solidFill>
                <a:latin typeface="Calibri (MS) Bold"/>
                <a:ea typeface="Calibri (MS) Bold"/>
                <a:cs typeface="Calibri (MS) Bold"/>
                <a:sym typeface="Calibri (MS) Bold"/>
              </a:rPr>
              <a:t>RESUMO:</a:t>
            </a:r>
            <a:r>
              <a:rPr lang="en-US" sz="4781">
                <a:solidFill>
                  <a:srgbClr val="000000"/>
                </a:solidFill>
                <a:latin typeface="Calibri (MS)"/>
                <a:ea typeface="Calibri (MS)"/>
                <a:cs typeface="Calibri (MS)"/>
                <a:sym typeface="Calibri (MS)"/>
              </a:rPr>
              <a:t>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 ENPCV.ENPCV ENPCV ENPCV ENPCV ENPCV ENPCV ENPCV ENPCV ENPCV ENPCV ENPCV ENPCV ENPCV ENPCV ENPCV ENPCV ENPCV ENPCV ENPCV ENPCV ENPCV ENPCV ENPCV ENPCV ENPCV ENPCV ENPCV ENPCV ENPCV ENPCV.</a:t>
            </a:r>
          </a:p>
          <a:p>
            <a:pPr algn="just">
              <a:lnSpc>
                <a:spcPts val="6693"/>
              </a:lnSpc>
            </a:pPr>
            <a:endParaRPr lang="en-US" sz="4781">
              <a:solidFill>
                <a:srgbClr val="000000"/>
              </a:solidFill>
              <a:latin typeface="Calibri (MS)"/>
              <a:ea typeface="Calibri (MS)"/>
              <a:cs typeface="Calibri (MS)"/>
              <a:sym typeface="Calibri (MS)"/>
            </a:endParaRPr>
          </a:p>
        </p:txBody>
      </p:sp>
      <p:sp>
        <p:nvSpPr>
          <p:cNvPr id="5" name="TextBox 5"/>
          <p:cNvSpPr txBox="1"/>
          <p:nvPr/>
        </p:nvSpPr>
        <p:spPr>
          <a:xfrm>
            <a:off x="5283376" y="28805487"/>
            <a:ext cx="25792696" cy="1443114"/>
          </a:xfrm>
          <a:prstGeom prst="rect">
            <a:avLst/>
          </a:prstGeom>
        </p:spPr>
        <p:txBody>
          <a:bodyPr lIns="0" tIns="0" rIns="0" bIns="0" rtlCol="0" anchor="t">
            <a:spAutoFit/>
          </a:bodyPr>
          <a:lstStyle/>
          <a:p>
            <a:pPr algn="l">
              <a:lnSpc>
                <a:spcPts val="5896"/>
              </a:lnSpc>
            </a:pPr>
            <a:r>
              <a:rPr lang="en-US" sz="4211" b="1">
                <a:solidFill>
                  <a:srgbClr val="000000"/>
                </a:solidFill>
                <a:latin typeface="Open Sans 2 Bold"/>
                <a:ea typeface="Open Sans 2 Bold"/>
                <a:cs typeface="Open Sans 2 Bold"/>
                <a:sym typeface="Open Sans 2 Bold"/>
              </a:rPr>
              <a:t>Detalhes técnicos:</a:t>
            </a:r>
            <a:r>
              <a:rPr lang="en-US" sz="4211">
                <a:solidFill>
                  <a:srgbClr val="000000"/>
                </a:solidFill>
                <a:latin typeface="Open Sans 2"/>
                <a:ea typeface="Open Sans 2"/>
                <a:cs typeface="Open Sans 2"/>
                <a:sym typeface="Open Sans 2"/>
              </a:rPr>
              <a:t> Microscopia óptica, Novel BM2100, 1000x (Imersão em óleo)</a:t>
            </a:r>
          </a:p>
          <a:p>
            <a:pPr algn="l">
              <a:lnSpc>
                <a:spcPts val="5896"/>
              </a:lnSpc>
            </a:pPr>
            <a:endParaRPr lang="en-US" sz="4211">
              <a:solidFill>
                <a:srgbClr val="000000"/>
              </a:solidFill>
              <a:latin typeface="Open Sans 2"/>
              <a:ea typeface="Open Sans 2"/>
              <a:cs typeface="Open Sans 2"/>
              <a:sym typeface="Open Sans 2"/>
            </a:endParaRPr>
          </a:p>
        </p:txBody>
      </p:sp>
      <p:sp>
        <p:nvSpPr>
          <p:cNvPr id="6" name="TextBox 6"/>
          <p:cNvSpPr txBox="1"/>
          <p:nvPr/>
        </p:nvSpPr>
        <p:spPr>
          <a:xfrm>
            <a:off x="6860796" y="6762061"/>
            <a:ext cx="19277483" cy="1504065"/>
          </a:xfrm>
          <a:prstGeom prst="rect">
            <a:avLst/>
          </a:prstGeom>
        </p:spPr>
        <p:txBody>
          <a:bodyPr lIns="0" tIns="0" rIns="0" bIns="0" rtlCol="0" anchor="t">
            <a:spAutoFit/>
          </a:bodyPr>
          <a:lstStyle/>
          <a:p>
            <a:pPr algn="ctr">
              <a:lnSpc>
                <a:spcPts val="12459"/>
              </a:lnSpc>
            </a:pPr>
            <a:r>
              <a:rPr lang="en-US" sz="8899" b="1">
                <a:solidFill>
                  <a:srgbClr val="000000"/>
                </a:solidFill>
                <a:latin typeface="Open Sans 2 Bold"/>
                <a:ea typeface="Open Sans 2 Bold"/>
                <a:cs typeface="Open Sans 2 Bold"/>
                <a:sym typeface="Open Sans 2 Bold"/>
              </a:rPr>
              <a:t>TÍTULO DO PROJETO  (Calibri n. 80)</a:t>
            </a:r>
          </a:p>
        </p:txBody>
      </p:sp>
      <p:sp>
        <p:nvSpPr>
          <p:cNvPr id="8" name="CaixaDeTexto 7">
            <a:extLst>
              <a:ext uri="{FF2B5EF4-FFF2-40B4-BE49-F238E27FC236}">
                <a16:creationId xmlns:a16="http://schemas.microsoft.com/office/drawing/2014/main" id="{C57F1FD0-8E26-865C-8881-28226B100712}"/>
              </a:ext>
            </a:extLst>
          </p:cNvPr>
          <p:cNvSpPr txBox="1"/>
          <p:nvPr/>
        </p:nvSpPr>
        <p:spPr>
          <a:xfrm>
            <a:off x="8096997" y="42269910"/>
            <a:ext cx="16203706" cy="707886"/>
          </a:xfrm>
          <a:prstGeom prst="rect">
            <a:avLst/>
          </a:prstGeom>
          <a:noFill/>
        </p:spPr>
        <p:txBody>
          <a:bodyPr wrap="square">
            <a:spAutoFit/>
          </a:bodyPr>
          <a:lstStyle/>
          <a:p>
            <a:pPr algn="ctr" rtl="0">
              <a:buNone/>
            </a:pPr>
            <a:r>
              <a:rPr lang="pt-BR" sz="4000" b="1" i="0" dirty="0">
                <a:solidFill>
                  <a:srgbClr val="000000"/>
                </a:solidFill>
                <a:effectLst/>
              </a:rPr>
              <a:t>E-mail para contato: (centralizado)</a:t>
            </a:r>
            <a:endParaRPr lang="pt-BR" sz="4000" dirty="0">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636</Words>
  <Application>Microsoft Office PowerPoint</Application>
  <PresentationFormat>Personalizar</PresentationFormat>
  <Paragraphs>28</Paragraphs>
  <Slides>2</Slides>
  <Notes>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vt:i4>
      </vt:variant>
    </vt:vector>
  </HeadingPairs>
  <TitlesOfParts>
    <vt:vector size="10" baseType="lpstr">
      <vt:lpstr>Open Sans 1 Bold</vt:lpstr>
      <vt:lpstr>Calibri</vt:lpstr>
      <vt:lpstr>Open Sans 2</vt:lpstr>
      <vt:lpstr>Open Sans 2 Bold</vt:lpstr>
      <vt:lpstr>Calibri (MS)</vt:lpstr>
      <vt:lpstr>Arial</vt:lpstr>
      <vt:lpstr>Calibri (MS) Bold</vt:lpstr>
      <vt:lpstr>Office Theme</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banner 90x120</dc:title>
  <cp:lastModifiedBy>Giovanna Cruvinel</cp:lastModifiedBy>
  <cp:revision>3</cp:revision>
  <dcterms:created xsi:type="dcterms:W3CDTF">2006-08-16T00:00:00Z</dcterms:created>
  <dcterms:modified xsi:type="dcterms:W3CDTF">2026-06-07T23:51:39Z</dcterms:modified>
  <dc:identifier>DAHErG_6pPQ</dc:identifier>
</cp:coreProperties>
</file>